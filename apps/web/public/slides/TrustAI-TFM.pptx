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1097280"/>
            <a:ext cx="3657600" cy="36576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0" y="109728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4338C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0" y="21945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pPr algn="ctr" indent="0" marL="0">
              <a:buNone/>
            </a:pPr>
            <a:r>
              <a:rPr lang="en-US" sz="6000" b="1" spc="-20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Certificación inteligente de activos digitales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0" y="3840480"/>
            <a:ext cx="3474720" cy="0"/>
          </a:xfrm>
          <a:prstGeom prst="line">
            <a:avLst/>
          </a:prstGeom>
          <a:noFill/>
          <a:ln w="635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977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comprende el contenido  ·  la blockchain certifica su integridad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86000" y="6035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 Fin de Máster  ·  Jose Aguilera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25880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MOTIVACIÓN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solución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Un PDF revisado por IA es indistinguible de uno falsificado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3969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No existe mecanismo para verificar independientemente la integridad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61518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Toda verificación requiere confiar en la plataforma emisora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25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TrustAI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5080" y="166420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Hash canónico del registro anclado on-chain (inmutable)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55080" y="213969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Verificación pública sin confiar en TrustAI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261518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Cualquiera puede recalcular el hash y compararlo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57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40480"/>
            <a:ext cx="11247120" cy="548640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86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blockchain? El estado de la cadena es auditable públicamente y no depende de TrustAI para existir — ni siquiera para sobrevivir.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56816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 CENTRAL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Trust Record (DTR)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DTR es el registro completo y verificable de un activo certificado.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estructurado del contenido — score, resumen, flags de riesgo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70832" y="146304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5361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70832" y="2057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canónico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07992" y="24231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 sobre la representación determinista del DTR completo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84464" y="146304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5361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84464" y="2057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Ancla on-chain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21624" y="24231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registrado en AnchorRegistry / Base Sepolia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11277295" cy="0"/>
          </a:xfrm>
          <a:prstGeom prst="line">
            <a:avLst/>
          </a:prstGeom>
          <a:noFill/>
          <a:ln w="635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Estados del ciclo de vida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50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Subido, sin revisar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90672" y="38862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38862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950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completada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25312" y="38862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950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 enviada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759952" y="38862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61120" y="38862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3950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5256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On-chain confirmado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587752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587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CERTIFICACIÓN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funciona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UC-01 — Certificación de activo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Subida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 → R2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141732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6366F1">
              <a:alpha val="12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417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Review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OpenAI/Stub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4173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417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🔧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Canoniza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dtr-core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14173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141732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417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4173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141732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6366F1">
              <a:alpha val="12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417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⛓️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anchor()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pg-boss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14173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141732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22C55E">
              <a:alpha val="12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417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
</a:t>
            </a:r>
            <a:pPr algn="ctr"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pPr algn="ctr" indent="0" marL="0">
              <a:buNone/>
            </a:pP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423160"/>
            <a:ext cx="11277295" cy="0"/>
          </a:xfrm>
          <a:prstGeom prst="line">
            <a:avLst/>
          </a:prstGeom>
          <a:noFill/>
          <a:ln w="6350">
            <a:solidFill>
              <a:srgbClr val="25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42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UC-02 — Verificación pública (sin login)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34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 original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(cualquier persona)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283464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783080" y="283464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6366F1">
              <a:alpha val="12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2834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🔧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Re-canoniza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mismo algoritmo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34640" y="283464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108960" y="283464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6366F1">
              <a:alpha val="12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834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Re-hashea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60520" y="283464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434840" y="283464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834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⛓️
</a:t>
            </a:r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exists()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on-chain query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283464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760720" y="283464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22C55E">
              <a:alpha val="12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834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
</a:t>
            </a:r>
            <a:pPr algn="ctr"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VÁLIDO</a:t>
            </a:r>
            <a:pPr algn="ctr" indent="0" marL="0">
              <a:buNone/>
            </a:pP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4572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840480"/>
            <a:ext cx="11247120" cy="502920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886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verificador recalcula el hash localmente y lo compara contra el contrato — TrustAI no interviene en la verificación.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46504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TÉCNICO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CAPAS DEL SISTEMA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514246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15142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App Router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4054" y="1737360"/>
            <a:ext cx="1064362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4054" y="1737360"/>
            <a:ext cx="106436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19856" y="1737360"/>
            <a:ext cx="1214323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737360"/>
            <a:ext cx="121432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TanStack Query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6771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542032"/>
            <a:ext cx="614477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542032"/>
            <a:ext cx="6144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NestJS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64285" y="2542032"/>
            <a:ext cx="689458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4285" y="2542032"/>
            <a:ext cx="689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pg-boss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45182" y="25420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5182" y="2542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26664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7238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346704"/>
            <a:ext cx="1439266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46704"/>
            <a:ext cx="14392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@trustai/dtr-core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89074" y="3346704"/>
            <a:ext cx="1289304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89074" y="3346704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puro TypeScript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831336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87705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4151376"/>
            <a:ext cx="1364285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151376"/>
            <a:ext cx="1364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Solidity ^0.8.20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14093" y="4151376"/>
            <a:ext cx="689458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14093" y="4151376"/>
            <a:ext cx="689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94990" y="4151376"/>
            <a:ext cx="1064362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94990" y="4151376"/>
            <a:ext cx="106436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Sepolia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63600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68172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Persistencia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" y="49560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956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64208" y="4956048"/>
            <a:ext cx="1139342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25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64208" y="4956048"/>
            <a:ext cx="11393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Cloudflare R2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9360" y="11704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— ARQUITECTURA HEXAGONAL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09360" y="14173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22C55E">
              <a:alpha val="8000"/>
            </a:srgbClr>
          </a:solidFill>
          <a:ln w="7620">
            <a:solidFill>
              <a:srgbClr val="22C55E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6EF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INFRAESTRUCTURA (Adapters)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9224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· StubAi · R2Store · Ethers.js · PgBoss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09360" y="262432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depende de ↓ (inversión de dependencias)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09360" y="27432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6366F1">
              <a:alpha val="8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8163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PUERTOS (Interfaces)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1546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IAiReviewer · IAssetStore · IAnchorService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09360" y="395020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depende de ↓ (inversión de dependencias)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09360" y="40690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41422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DOMINIO (Core)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92240" y="44805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Entities · Use Cases · Domain Logic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51660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516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PAQUETE CENTRAL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@trustai/dtr-core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Paquete puro TypeScript — sin framework, sin base de datos, sin IA. Única fuente de verdad del protocolo DTR.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9961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canonicalize(dtr)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922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Serialización determinista: claves ordenadas, números normalizados, campos nulos excluidos. El mismo DTR produce la misma cadena en cualquier entorno.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22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hashDtr(dtr)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 sobre la representación canónica → hex de 64 caracteres. Idempotente: mismo DTR → mismo hash, siempre.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455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verifyDtr(dtr, onChainHash)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 el hash y compara contra el ancla on-chain. Devuelve VALID | INVALID | NOT_FOUND.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5760720" cy="3154680"/>
          </a:xfrm>
          <a:prstGeom prst="roundRect">
            <a:avLst>
              <a:gd name="adj" fmla="val 2029"/>
            </a:avLst>
          </a:prstGeom>
          <a:solidFill>
            <a:srgbClr val="09090F"/>
          </a:solidFill>
          <a:ln w="6350">
            <a:solidFill>
              <a:srgbClr val="25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08760"/>
            <a:ext cx="54864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DTRSchema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z.object({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       z.string().uuid(),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version:   z.literal("dtr/1.0"),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assetId:   z.string(),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assetHash: z.string(),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aiReview:  z.object({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  z.string(),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z.string(),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score:   z.number().min(0).max(1),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flags:   z.array(z.string()),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issuedAt:  z.string().datetime(),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issuerDid: z.string(),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457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54880"/>
            <a:ext cx="11247120" cy="548640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800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pruebas unitarias — canonicalización, hashing, verificación e idempotencia. Casos edge: ordenación de claves, valores nulos, normalización numérica.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25880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AnchorRegistry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mínimo, sin sorpresas, sin owner.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9961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anchor(bytes32 hash)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el hash en el estado de la cadena. Emite Anchored. Idempotente — no revierte si ya existe.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6829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exists(bytes32) → bool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pública, gratuita, sin permisos. Cualquiera puede verificar en cualquier momento.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Sin ownership ni control de acceso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Chain id: 84532 (Base Sepolia)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00507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Probado con Foundry (unit + fuzz)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35254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0xe6738fb0aF94822a3831c8e0a65b5C6d20607C22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4572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754880"/>
            <a:ext cx="5257800" cy="548640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8006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ADR-003: ERC-721 descartado — overhead innecesario para MVP. El contrato mínimo tiene la menor superficie de ataque posible.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417320"/>
            <a:ext cx="5760720" cy="3886200"/>
          </a:xfrm>
          <a:prstGeom prst="roundRect">
            <a:avLst>
              <a:gd name="adj" fmla="val 1647"/>
            </a:avLst>
          </a:prstGeom>
          <a:solidFill>
            <a:srgbClr val="09090F"/>
          </a:solidFill>
          <a:ln w="6350">
            <a:solidFill>
              <a:srgbClr val="25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508760"/>
            <a:ext cx="54864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SPDX-License-Identifier: MIT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 solidity ^0.8.20;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AnchorRegistry {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Anchored(bytes32 indexed hash);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mapping(bytes32 =&gt; bool) private _anchors;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anchor(bytes32 hash) external {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(!_anchors[hash]) {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_anchors[hash] =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emit Anchored(hash);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    }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exists(bytes32 hash)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external view returns (bool)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return _anchors[hash]; }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92908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6929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ARTIFICIAL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Adaptador de IA dual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1247120" cy="438912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Puerto IAiReviewer — el dominio no sabe qué modelo usa ni si hay red disponible.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StubAiAdapter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3969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sintéticos deterministas. Sin red, sin coste, sin latencia. Activo en CI y entornos de desarrollo.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15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OpenAiAdapter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5409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Envía el texto del activo a GPT-4o. Respuesta validada con Zod antes de persistirse en el DTR.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Selección: AI_ADAPTER=stub|openai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45720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069080"/>
            <a:ext cx="5257800" cy="594360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148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ADR-004: El stub es ciudadano de primera clase — no un hack de testing. Permite demos offline y CI completamente determinista.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143000"/>
            <a:ext cx="5760720" cy="2834640"/>
          </a:xfrm>
          <a:prstGeom prst="roundRect">
            <a:avLst>
              <a:gd name="adj" fmla="val 2258"/>
            </a:avLst>
          </a:prstGeom>
          <a:solidFill>
            <a:srgbClr val="09090F"/>
          </a:solidFill>
          <a:ln w="635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AiReviewResult (validado con Zod)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   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"gpt-4o"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summary:    "Informe financiero Q1 2026.
             Proyecciones +18% a/a.",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score:    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flags:      ["datos_financieros", "pii"],
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reviewedAt: "2026-07-15T10:30:00Z"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411480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41879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validación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44622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 →  JSON.parse()  →  AiReviewSchema.parse()  →  dominio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2200" y="473659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Zod falla → el DTR permanece en PENDING, nunca se corrompe.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51660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516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INFRAESTRUCTURA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y despliegue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760720" cy="320040"/>
          </a:xfrm>
          <a:prstGeom prst="roundRect">
            <a:avLst>
              <a:gd name="adj" fmla="val 22857"/>
            </a:avLst>
          </a:prstGeom>
          <a:solidFill>
            <a:srgbClr val="6366F1"/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16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12161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Tecnología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63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5636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15 · App Router · Tailwind CSS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29384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41426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02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2002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NestJS · pg-boss worker · Prisma 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41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2441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@trustai/dtr-core (TypeScript puro)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07208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41426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80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880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(datos + cola pg-boss)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19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Almacenamiento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57400" y="33192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R2 · AES-256-GCM en reposo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41426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58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57400" y="37581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Sepolia · Ethers.js v6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23944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97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57400" y="41970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GPT-4o · adaptador stub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62856"/>
            <a:ext cx="5760720" cy="402336"/>
          </a:xfrm>
          <a:prstGeom prst="roundRect">
            <a:avLst>
              <a:gd name="adj" fmla="val 18182"/>
            </a:avLst>
          </a:prstGeom>
          <a:solidFill>
            <a:srgbClr val="141426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36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57400" y="46360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Vitest · Playwright · Foundry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11704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TOPOLOGÍA DE PRODUCCIÓN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146304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▲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69480" y="153619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69480" y="1865376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Next.js — Edge Network, CI integrado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2359152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69480" y="2432304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Railway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69480" y="2761488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NestJS + PostgreSQL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3255264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3346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69480" y="332841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R2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365760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Activos cifrados en reposo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4151376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4242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⛓️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69480" y="422452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Sepolia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69480" y="4553712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AnchorRegistry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5138928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37960" y="5138928"/>
            <a:ext cx="5440680" cy="438912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5184648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Monorepo pnpm workspaces: packages/dtr-core · apps/api · apps/web · smart-contracts/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10412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10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y CI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unitarias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395728"/>
            <a:ext cx="3108960" cy="0"/>
          </a:xfrm>
          <a:prstGeom prst="line">
            <a:avLst/>
          </a:prstGeom>
          <a:noFill/>
          <a:ln w="508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dtr-core 29 · API 170 · Web 128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79392" y="12801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508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79392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real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2395728"/>
            <a:ext cx="3108960" cy="0"/>
          </a:xfrm>
          <a:prstGeom prst="line">
            <a:avLst/>
          </a:prstGeom>
          <a:noFill/>
          <a:ln w="5080">
            <a:solidFill>
              <a:srgbClr val="25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(local) + Base Sepolia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01584" y="12801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1508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101584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75904" y="2395728"/>
            <a:ext cx="3108960" cy="0"/>
          </a:xfrm>
          <a:prstGeom prst="line">
            <a:avLst/>
          </a:prstGeom>
          <a:noFill/>
          <a:ln w="508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1584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· typecheck · lint · suite completa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572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08960"/>
            <a:ext cx="5349240" cy="640080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546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(Foundry): unit tests + fuzz tests sobre anchor() y exists(). Superficie de ataque mínima verificada formalmente.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3108960"/>
            <a:ext cx="4572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108960"/>
            <a:ext cx="5715000" cy="640080"/>
          </a:xfrm>
          <a:prstGeom prst="rect">
            <a:avLst/>
          </a:prstGeom>
          <a:solidFill>
            <a:srgbClr val="6366F1">
              <a:alpha val="12000"/>
            </a:srgbClr>
          </a:solidFill>
          <a:ln w="381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154680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dtr-core: casos edge cubiertos — ordenación de claves, valores nulos, normalización numérica, re-hashing idempotente bajo cualquier permutación.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0507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CI en cada push (GitHub Actions)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" y="4315968"/>
            <a:ext cx="1362456" cy="347472"/>
          </a:xfrm>
          <a:prstGeom prst="roundRect">
            <a:avLst>
              <a:gd name="adj" fmla="val 10526"/>
            </a:avLst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315968"/>
            <a:ext cx="1362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install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50008" y="43159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78608" y="4315968"/>
            <a:ext cx="1101852" cy="347472"/>
          </a:xfrm>
          <a:prstGeom prst="roundRect">
            <a:avLst>
              <a:gd name="adj" fmla="val 10526"/>
            </a:avLst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4315968"/>
            <a:ext cx="11018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typecheck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53612" y="43159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982212" y="4315968"/>
            <a:ext cx="667512" cy="347472"/>
          </a:xfrm>
          <a:prstGeom prst="roundRect">
            <a:avLst>
              <a:gd name="adj" fmla="val 10526"/>
            </a:avLst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2212" y="4315968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22876" y="43159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51476" y="4315968"/>
            <a:ext cx="1188720" cy="347472"/>
          </a:xfrm>
          <a:prstGeom prst="roundRect">
            <a:avLst>
              <a:gd name="adj" fmla="val 10526"/>
            </a:avLst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1476" y="43159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(327)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3348" y="43159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1948" y="4315968"/>
            <a:ext cx="754380" cy="347472"/>
          </a:xfrm>
          <a:prstGeom prst="roundRect">
            <a:avLst>
              <a:gd name="adj" fmla="val 10526"/>
            </a:avLst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1948" y="4315968"/>
            <a:ext cx="7543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36192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EN VIVO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Pruébalo ahora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858000" cy="1188720"/>
          </a:xfrm>
          <a:prstGeom prst="roundRect">
            <a:avLst>
              <a:gd name="adj" fmla="val 6154"/>
            </a:avLst>
          </a:prstGeom>
          <a:solidFill>
            <a:srgbClr val="1A1A2E"/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9304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web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563624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trustai-web-kappa.vercel.app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con cuenta de prueba preconfigurada: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093976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revisor@trustai.app  /  RevisorTFM2026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6858000" cy="1188720"/>
          </a:xfrm>
          <a:prstGeom prst="roundRect">
            <a:avLst>
              <a:gd name="adj" fmla="val 6154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15184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pública (sin login)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889504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trustai-web-kappa.vercel.app/verify/:id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82112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 el hash localmente y consulta Base Sepolia.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419856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login. Sin datos que salgan del cliente.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41064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de salud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215384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trustaiapi-production.up.railway.app/health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234440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en BaseScan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1645920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⛓️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589520" y="30632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sepolia.basescan.org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89520" y="33375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0xe6738fb0aF94822a3831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c8e0a65b5C6d20607C22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008376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DECISIONES DE ARQUITECTURA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Decision Records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decisión relevante registrada como ADR en docs/adr/ con contexto, alternativas y consecuencias.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92840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4630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Alternativa descartada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1129284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562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185623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Anclar hash canónico del DTR on-chain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856232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Almacenar el JSON completo on-chain (costoso e inmutable)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292840" cy="594360"/>
          </a:xfrm>
          <a:prstGeom prst="roundRect">
            <a:avLst>
              <a:gd name="adj" fmla="val 12308"/>
            </a:avLst>
          </a:prstGeom>
          <a:solidFill>
            <a:srgbClr val="141426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237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52374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full-TypeScript en monorepo pnpm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2523744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Python / Go (ecosistemas separados, fricción)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99816"/>
            <a:ext cx="1129284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912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319125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mínimo sin owner ni lógica de negocio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3191256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ERC-721 NFT (overhead innecesario, mayor superficie de ataque)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11292840" cy="594360"/>
          </a:xfrm>
          <a:prstGeom prst="roundRect">
            <a:avLst>
              <a:gd name="adj" fmla="val 12308"/>
            </a:avLst>
          </a:prstGeom>
          <a:solidFill>
            <a:srgbClr val="141426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587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38587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Adaptador dual IA: stub como ciudadano de 1ª clase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3858768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solo en tests (stub descartable, no extensible)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1129284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262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45920" y="45262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App Router + TanStack Query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4526280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Router / SWR (caching menos expresivo)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102352"/>
            <a:ext cx="11292840" cy="594360"/>
          </a:xfrm>
          <a:prstGeom prst="roundRect">
            <a:avLst>
              <a:gd name="adj" fmla="val 12308"/>
            </a:avLst>
          </a:prstGeom>
          <a:solidFill>
            <a:srgbClr val="141426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1937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45920" y="51937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+ Railway + R2 para despliegue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5193792"/>
            <a:ext cx="6446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full-stack (coste y complejidad excesivos para MVP)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72284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722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DEL PROYECTO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Completo y en producción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350008"/>
            <a:ext cx="3108960" cy="0"/>
          </a:xfrm>
          <a:prstGeom prst="line">
            <a:avLst/>
          </a:prstGeom>
          <a:noFill/>
          <a:ln w="508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end-to-end contra Base Sepolia real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79392" y="123444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79392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automáticas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2350008"/>
            <a:ext cx="3108960" cy="0"/>
          </a:xfrm>
          <a:prstGeom prst="line">
            <a:avLst/>
          </a:prstGeom>
          <a:noFill/>
          <a:ln w="5080">
            <a:solidFill>
              <a:srgbClr val="25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Unitarias + E2E + contrato Foundry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01584" y="123444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101584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ADRs documentados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75904" y="2350008"/>
            <a:ext cx="3108960" cy="0"/>
          </a:xfrm>
          <a:prstGeom prst="line">
            <a:avLst/>
          </a:prstGeom>
          <a:noFill/>
          <a:ln w="508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1584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alternativas descartadas y consecuencias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363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funciona en producción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493008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Registro de usuario + verificación de email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867912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Subida de activos (PDF) cifrados en R2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242816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Revisión IA (GPT-4o) → DTR estructurado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Anclaje on-chain → estado CERTIFIED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992624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Verificación pública sin login (UC-02)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063240"/>
            <a:ext cx="5715000" cy="237744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3639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viva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493008"/>
            <a:ext cx="5349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TDD completo en docs/ (13 secciones)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3867912"/>
            <a:ext cx="5349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Diagramas C4 (context, container, component)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4242816"/>
            <a:ext cx="5349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Endpoints de API documentados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4617720"/>
            <a:ext cx="5349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Modelo de seguridad con diagramas de secuencia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10412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10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309360" y="11704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Y NEGOCIO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 del emisor (ECDSA)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019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No-repudio real — el emisor firma el hash del DTR con su clave privada antes del anclaje.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Mainnet (Base)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735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contrato ya está listo. Solo requiere ETH real y redeploy. Costo mínimo en Base L2.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tipos de activos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451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Imágenes, audio, código fuente. El pipeline de canonicalización es extensible por tipo.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SDK / API pública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9019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Certificar activos desde sistemas externos sin usar la interfaz web.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freemium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2735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certificaciones gratis/mes. Planes para equipos y empresas con SLA.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420624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Certificadores especializados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6451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de revisores IA por dominio: legal, financiero, médico.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05256" cy="20116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92840" cy="1078992"/>
          </a:xfrm>
          <a:prstGeom prst="roundRect">
            <a:avLst>
              <a:gd name="adj" fmla="val 6780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+ blockchain resuelven el problema de la confianza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requerir que el verificador confíe en el emisor. La verificación es pública y permanente.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11292840" cy="1078992"/>
          </a:xfrm>
          <a:prstGeom prst="roundRect">
            <a:avLst>
              <a:gd name="adj" fmla="val 6780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78608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arquitectura hexagonal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permitió desarrollar y testear el dominio completamente aislado de la infraestructura — sin acoplamiento a ningún framework.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94176"/>
            <a:ext cx="11292840" cy="1078992"/>
          </a:xfrm>
          <a:prstGeom prst="roundRect">
            <a:avLst>
              <a:gd name="adj" fmla="val 6780"/>
            </a:avLst>
          </a:prstGeom>
          <a:solidFill>
            <a:srgbClr val="1A1A2E"/>
          </a:solidFill>
          <a:ln w="7620">
            <a:solidFill>
              <a:srgbClr val="25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8561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dtr-core como paquete puro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169664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 que canonicalización y verificación son reproducibles por cualquier implementación futura, en cualquier lenguaje.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901184"/>
            <a:ext cx="11292840" cy="1078992"/>
          </a:xfrm>
          <a:prstGeom prst="roundRect">
            <a:avLst>
              <a:gd name="adj" fmla="val 6780"/>
            </a:avLst>
          </a:prstGeom>
          <a:solidFill>
            <a:srgbClr val="22C55E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901184"/>
            <a:ext cx="11292840" cy="1078992"/>
          </a:xfrm>
          <a:prstGeom prst="roundRect">
            <a:avLst>
              <a:gd name="adj" fmla="val 6780"/>
            </a:avLst>
          </a:prstGeom>
          <a:solidFill>
            <a:srgbClr val="22C55E">
              <a:alpha val="8000"/>
            </a:srgbClr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9926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MVP está en producción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376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flujo completo probado end-to-end contra Base Sepolia real y 327 pruebas automáticas pasando en CI.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731520"/>
            <a:ext cx="3931920" cy="393192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6366F1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1143000" cy="1143000"/>
          </a:xfrm>
          <a:prstGeom prst="roundRect">
            <a:avLst>
              <a:gd name="adj" fmla="val 14400"/>
            </a:avLst>
          </a:prstGeom>
          <a:solidFill>
            <a:srgbClr val="4338CA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91440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0" y="21945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-2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pPr algn="ctr" indent="0" marL="0">
              <a:buNone/>
            </a:pPr>
            <a:r>
              <a:rPr lang="en-US" sz="5600" b="1" spc="-200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200400" y="3246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3840480"/>
            <a:ext cx="3474720" cy="0"/>
          </a:xfrm>
          <a:prstGeom prst="line">
            <a:avLst/>
          </a:prstGeom>
          <a:noFill/>
          <a:ln w="6350">
            <a:solidFill>
              <a:srgbClr val="25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977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· Documentación · Demo en vivo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427939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trustai-web-kappa.vercel.app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59893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Jose Aguilera  ·  TFM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TrustAI — TFM 2026</dc:title>
  <dc:subject>Certificación inteligente de activos digitales</dc:subject>
  <dc:creator>Jose Aguilera</dc:creator>
  <cp:lastModifiedBy>Jose Aguilera</cp:lastModifiedBy>
  <cp:revision>1</cp:revision>
  <dcterms:created xsi:type="dcterms:W3CDTF">2026-07-18T06:14:18Z</dcterms:created>
  <dcterms:modified xsi:type="dcterms:W3CDTF">2026-07-18T06:14:18Z</dcterms:modified>
</cp:coreProperties>
</file>